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b93c76c31b008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b93c76c31b008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2b93c76c31b008c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h2b93c76c31b008c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2b93c76c31b008c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2b93c76c31b008c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2b93c76c31b008c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2b93c76c31b008c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2b93c76c31b008c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2b93c76c31b008c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public.tableau.com/views/Book1_17903841169930/Dashboard1?:language=en-US&amp;publish=yes&amp;:sid=&amp;:redirect=auth&amp;:display_count=n&amp;:origin=viz_share_lin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ocs.google.com/document/d/1G-yxmWC6SVf1sZUzW5Dm7sGXa72KjiM_CvA3KF0iCOM/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Project 1</a:t>
            </a:r>
            <a:endParaRPr/>
          </a:p>
          <a:p>
            <a:pPr indent="0" lvl="0" marL="0" rtl="0" algn="ctr">
              <a:spcBef>
                <a:spcPts val="0"/>
              </a:spcBef>
              <a:spcAft>
                <a:spcPts val="0"/>
              </a:spcAft>
              <a:buNone/>
            </a:pPr>
            <a:r>
              <a:rPr lang="en"/>
              <a:t>CIS 3250</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Leila Corrales</a:t>
            </a:r>
            <a:endParaRPr/>
          </a:p>
          <a:p>
            <a:pPr indent="0" lvl="0" marL="0" rtl="0" algn="ctr">
              <a:spcBef>
                <a:spcPts val="0"/>
              </a:spcBef>
              <a:spcAft>
                <a:spcPts val="0"/>
              </a:spcAft>
              <a:buNone/>
            </a:pPr>
            <a:r>
              <a:rPr lang="en"/>
              <a:t>09/25/2026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Insights &amp; Recommendation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chemeClr val="dk1"/>
                </a:solidFill>
                <a:highlight>
                  <a:srgbClr val="FFFFFF"/>
                </a:highlight>
              </a:rPr>
              <a:t>Bullet Point 1:</a:t>
            </a:r>
            <a:r>
              <a:rPr lang="en" sz="1200">
                <a:solidFill>
                  <a:schemeClr val="dk1"/>
                </a:solidFill>
                <a:highlight>
                  <a:srgbClr val="FFFFFF"/>
                </a:highlight>
              </a:rPr>
              <a:t> Most of the profit comes from Technological Sales; specifically Phones and Copiers. However, the photo below shows that “Machines” tend to sell high but at a low price. We also notice that Bookcases and Tables tend to sell high, but the company loses money instead of profiting. </a:t>
            </a:r>
            <a:endParaRPr sz="1200">
              <a:solidFill>
                <a:schemeClr val="dk1"/>
              </a:solidFill>
              <a:highlight>
                <a:srgbClr val="FFFFFF"/>
              </a:highlight>
            </a:endParaRPr>
          </a:p>
          <a:p>
            <a:pPr indent="0" lvl="0" marL="0" rtl="0" algn="l">
              <a:spcBef>
                <a:spcPts val="500"/>
              </a:spcBef>
              <a:spcAft>
                <a:spcPts val="0"/>
              </a:spcAft>
              <a:buNone/>
            </a:pPr>
            <a:r>
              <a:t/>
            </a:r>
            <a:endParaRPr sz="1200">
              <a:solidFill>
                <a:schemeClr val="dk1"/>
              </a:solidFill>
              <a:highlight>
                <a:srgbClr val="FFFFFF"/>
              </a:highlight>
            </a:endParaRPr>
          </a:p>
          <a:p>
            <a:pPr indent="0" lvl="0" marL="0" rtl="0" algn="l">
              <a:spcBef>
                <a:spcPts val="500"/>
              </a:spcBef>
              <a:spcAft>
                <a:spcPts val="0"/>
              </a:spcAft>
              <a:buNone/>
            </a:pPr>
            <a:r>
              <a:t/>
            </a:r>
            <a:endParaRPr sz="1200">
              <a:solidFill>
                <a:schemeClr val="dk1"/>
              </a:solidFill>
              <a:highlight>
                <a:srgbClr val="FFFFFF"/>
              </a:highlight>
            </a:endParaRPr>
          </a:p>
          <a:p>
            <a:pPr indent="0" lvl="0" marL="0" rtl="0" algn="l">
              <a:spcBef>
                <a:spcPts val="500"/>
              </a:spcBef>
              <a:spcAft>
                <a:spcPts val="1200"/>
              </a:spcAft>
              <a:buNone/>
            </a:pPr>
            <a:r>
              <a:t/>
            </a:r>
            <a:endParaRPr/>
          </a:p>
        </p:txBody>
      </p:sp>
      <p:pic>
        <p:nvPicPr>
          <p:cNvPr id="62" name="Google Shape;62;p14"/>
          <p:cNvPicPr preferRelativeResize="0"/>
          <p:nvPr/>
        </p:nvPicPr>
        <p:blipFill>
          <a:blip r:embed="rId3">
            <a:alphaModFix/>
          </a:blip>
          <a:stretch>
            <a:fillRect/>
          </a:stretch>
        </p:blipFill>
        <p:spPr>
          <a:xfrm>
            <a:off x="168051" y="2414201"/>
            <a:ext cx="4260268" cy="2154675"/>
          </a:xfrm>
          <a:prstGeom prst="rect">
            <a:avLst/>
          </a:prstGeom>
          <a:noFill/>
          <a:ln>
            <a:noFill/>
          </a:ln>
        </p:spPr>
      </p:pic>
      <p:pic>
        <p:nvPicPr>
          <p:cNvPr id="63" name="Google Shape;63;p14"/>
          <p:cNvPicPr preferRelativeResize="0"/>
          <p:nvPr/>
        </p:nvPicPr>
        <p:blipFill>
          <a:blip r:embed="rId4">
            <a:alphaModFix/>
          </a:blip>
          <a:stretch>
            <a:fillRect/>
          </a:stretch>
        </p:blipFill>
        <p:spPr>
          <a:xfrm>
            <a:off x="4207843" y="2414195"/>
            <a:ext cx="4624451" cy="2314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Key Insights &amp; Recommendation</a:t>
            </a:r>
            <a:endParaRPr/>
          </a:p>
          <a:p>
            <a:pPr indent="0" lvl="0" marL="0" rtl="0" algn="l">
              <a:spcBef>
                <a:spcPts val="0"/>
              </a:spcBef>
              <a:spcAft>
                <a:spcPts val="0"/>
              </a:spcAft>
              <a:buNone/>
            </a:pPr>
            <a:r>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500"/>
              </a:spcAft>
              <a:buClr>
                <a:schemeClr val="dk1"/>
              </a:buClr>
              <a:buSzPts val="1100"/>
              <a:buFont typeface="Arial"/>
              <a:buNone/>
            </a:pPr>
            <a:r>
              <a:rPr b="1" lang="en" sz="1200">
                <a:solidFill>
                  <a:schemeClr val="dk1"/>
                </a:solidFill>
                <a:highlight>
                  <a:srgbClr val="FFFFFF"/>
                </a:highlight>
              </a:rPr>
              <a:t>Bullet Point 2:</a:t>
            </a:r>
            <a:r>
              <a:rPr lang="en" sz="1200">
                <a:solidFill>
                  <a:schemeClr val="dk1"/>
                </a:solidFill>
                <a:highlight>
                  <a:srgbClr val="FFFFFF"/>
                </a:highlight>
              </a:rPr>
              <a:t> We notice that Profit and Sales decrease every Fourth Quarter of each year. This trend can help the company adjust prices knowing that demand and sales will be increasing. We can also deduce that sales are up due to Christmas, Thanksgiving, and Halloween being major holidays where consumers may spend more money for celebrations.</a:t>
            </a:r>
            <a:endParaRPr/>
          </a:p>
        </p:txBody>
      </p:sp>
      <p:pic>
        <p:nvPicPr>
          <p:cNvPr id="70" name="Google Shape;70;p15"/>
          <p:cNvPicPr preferRelativeResize="0"/>
          <p:nvPr/>
        </p:nvPicPr>
        <p:blipFill>
          <a:blip r:embed="rId3">
            <a:alphaModFix/>
          </a:blip>
          <a:stretch>
            <a:fillRect/>
          </a:stretch>
        </p:blipFill>
        <p:spPr>
          <a:xfrm>
            <a:off x="0" y="2571750"/>
            <a:ext cx="9144002" cy="1918300"/>
          </a:xfrm>
          <a:prstGeom prst="rect">
            <a:avLst/>
          </a:prstGeom>
          <a:noFill/>
          <a:ln>
            <a:noFill/>
          </a:ln>
        </p:spPr>
      </p:pic>
      <p:sp>
        <p:nvSpPr>
          <p:cNvPr id="71" name="Google Shape;71;p15"/>
          <p:cNvSpPr/>
          <p:nvPr/>
        </p:nvSpPr>
        <p:spPr>
          <a:xfrm>
            <a:off x="7379475" y="2291975"/>
            <a:ext cx="2039700" cy="808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Key Insights &amp; Recommendation</a:t>
            </a:r>
            <a:endParaRPr/>
          </a:p>
          <a:p>
            <a:pPr indent="0" lvl="0" marL="0" rtl="0" algn="l">
              <a:spcBef>
                <a:spcPts val="0"/>
              </a:spcBef>
              <a:spcAft>
                <a:spcPts val="0"/>
              </a:spcAft>
              <a:buNone/>
            </a:pPr>
            <a:r>
              <a:t/>
            </a:r>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chemeClr val="dk1"/>
                </a:solidFill>
                <a:highlight>
                  <a:srgbClr val="FFFFFF"/>
                </a:highlight>
              </a:rPr>
              <a:t>Business Recommendation:</a:t>
            </a:r>
            <a:r>
              <a:rPr lang="en" sz="1200">
                <a:solidFill>
                  <a:schemeClr val="dk1"/>
                </a:solidFill>
                <a:highlight>
                  <a:srgbClr val="FFFFFF"/>
                </a:highlight>
              </a:rPr>
              <a:t> </a:t>
            </a:r>
            <a:endParaRPr sz="1200">
              <a:solidFill>
                <a:schemeClr val="dk1"/>
              </a:solidFill>
              <a:highlight>
                <a:srgbClr val="FFFFFF"/>
              </a:highlight>
            </a:endParaRPr>
          </a:p>
          <a:p>
            <a:pPr indent="-304800" lvl="0" marL="457200" rtl="0" algn="l">
              <a:spcBef>
                <a:spcPts val="500"/>
              </a:spcBef>
              <a:spcAft>
                <a:spcPts val="0"/>
              </a:spcAft>
              <a:buClr>
                <a:schemeClr val="dk1"/>
              </a:buClr>
              <a:buSzPts val="1200"/>
              <a:buChar char="-"/>
            </a:pPr>
            <a:r>
              <a:rPr lang="en" sz="1200">
                <a:solidFill>
                  <a:schemeClr val="dk1"/>
                </a:solidFill>
                <a:highlight>
                  <a:srgbClr val="FFFFFF"/>
                </a:highlight>
              </a:rPr>
              <a:t>The company should consider halting the sales of furniture. Majority of the sub category for furniture is losing money instead of gaining money.</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The company should consider price adjustments depending on the time of year, raising the price when demand is high and lowering them when it is low.</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The company should also consider selling more in Regions like California and New York, as they tend to have higher demand and a bigger market.</a:t>
            </a:r>
            <a:endParaRPr sz="1200">
              <a:solidFill>
                <a:schemeClr val="dk1"/>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Technical Reflection</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chemeClr val="dk1"/>
                </a:solidFill>
                <a:highlight>
                  <a:srgbClr val="FFFFFF"/>
                </a:highlight>
              </a:rPr>
              <a:t>Data Challenge &amp; Solution: </a:t>
            </a:r>
            <a:r>
              <a:rPr lang="en" sz="1200">
                <a:solidFill>
                  <a:schemeClr val="dk1"/>
                </a:solidFill>
                <a:highlight>
                  <a:srgbClr val="FFFFFF"/>
                </a:highlight>
              </a:rPr>
              <a:t>I struggled with creating the layout for my dashboard. I had 4 initial plots and I couldn’t properly fit them in the layout. In order to solve this, I had to remake the analysis I had for the product categories. I struggled because it was difficult to find a way to visualize two categorical values and two numerical values concisely. I ended up sticking with a scatter plot which took up space, but I made sure to remove white spaces in the axes and the data, finally fitting my layout properly.</a:t>
            </a:r>
            <a:endParaRPr sz="1200">
              <a:solidFill>
                <a:schemeClr val="dk1"/>
              </a:solidFill>
              <a:highlight>
                <a:srgbClr val="FFFFFF"/>
              </a:highlight>
            </a:endParaRPr>
          </a:p>
          <a:p>
            <a:pPr indent="0" lvl="0" marL="0" rtl="0" algn="l">
              <a:spcBef>
                <a:spcPts val="500"/>
              </a:spcBef>
              <a:spcAft>
                <a:spcPts val="0"/>
              </a:spcAft>
              <a:buNone/>
            </a:pPr>
            <a:r>
              <a:t/>
            </a:r>
            <a:endParaRPr b="1" sz="1200">
              <a:solidFill>
                <a:schemeClr val="dk1"/>
              </a:solidFill>
              <a:highlight>
                <a:srgbClr val="FFFFFF"/>
              </a:highlight>
            </a:endParaRPr>
          </a:p>
          <a:p>
            <a:pPr indent="0" lvl="0" marL="0" rtl="0" algn="l">
              <a:spcBef>
                <a:spcPts val="500"/>
              </a:spcBef>
              <a:spcAft>
                <a:spcPts val="0"/>
              </a:spcAft>
              <a:buNone/>
            </a:pPr>
            <a:r>
              <a:t/>
            </a:r>
            <a:endParaRPr b="1" sz="1200">
              <a:solidFill>
                <a:schemeClr val="dk1"/>
              </a:solidFill>
              <a:highlight>
                <a:srgbClr val="FFFFFF"/>
              </a:highlight>
            </a:endParaRPr>
          </a:p>
          <a:p>
            <a:pPr indent="0" lvl="0" marL="0" rtl="0" algn="l">
              <a:spcBef>
                <a:spcPts val="500"/>
              </a:spcBef>
              <a:spcAft>
                <a:spcPts val="0"/>
              </a:spcAft>
              <a:buNone/>
            </a:pPr>
            <a:r>
              <a:rPr b="1" lang="en" sz="1200">
                <a:solidFill>
                  <a:schemeClr val="dk1"/>
                </a:solidFill>
                <a:highlight>
                  <a:srgbClr val="FFFFFF"/>
                </a:highlight>
              </a:rPr>
              <a:t>Link to Tableau Dashboard:</a:t>
            </a:r>
            <a:r>
              <a:rPr lang="en" sz="1200">
                <a:solidFill>
                  <a:schemeClr val="dk1"/>
                </a:solidFill>
                <a:highlight>
                  <a:srgbClr val="FFFFFF"/>
                </a:highlight>
              </a:rPr>
              <a:t> </a:t>
            </a:r>
            <a:r>
              <a:rPr lang="en" sz="1100" u="sng">
                <a:solidFill>
                  <a:srgbClr val="1155CC"/>
                </a:solidFill>
                <a:hlinkClick r:id="rId3">
                  <a:extLst>
                    <a:ext uri="{A12FA001-AC4F-418D-AE19-62706E023703}">
                      <ahyp:hlinkClr val="tx"/>
                    </a:ext>
                  </a:extLst>
                </a:hlinkClick>
              </a:rPr>
              <a:t>https://public.tableau.com/views/Book1_17903841169930/Dashboard1?:language=en-US&amp;publish=yes&amp;:sid=&amp;:redirect=auth&amp;:display_count=n&amp;:origin=viz_share_link</a:t>
            </a:r>
            <a:endParaRPr sz="1100">
              <a:solidFill>
                <a:schemeClr val="dk1"/>
              </a:solidFill>
            </a:endParaRPr>
          </a:p>
          <a:p>
            <a:pPr indent="0" lvl="0" marL="0" rtl="0" algn="l">
              <a:spcBef>
                <a:spcPts val="500"/>
              </a:spcBef>
              <a:spcAft>
                <a:spcPts val="0"/>
              </a:spcAft>
              <a:buNone/>
            </a:pPr>
            <a:r>
              <a:t/>
            </a:r>
            <a:endParaRPr sz="1200">
              <a:solidFill>
                <a:schemeClr val="dk1"/>
              </a:solidFill>
              <a:highlight>
                <a:srgbClr val="FFFFFF"/>
              </a:highlight>
            </a:endParaRPr>
          </a:p>
          <a:p>
            <a:pPr indent="0" lvl="0" marL="0" rtl="0" algn="l">
              <a:spcBef>
                <a:spcPts val="5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Extra</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Google Document of my drafts:</a:t>
            </a:r>
            <a:endParaRPr/>
          </a:p>
          <a:p>
            <a:pPr indent="0" lvl="0" marL="0" rtl="0" algn="l">
              <a:spcBef>
                <a:spcPts val="1200"/>
              </a:spcBef>
              <a:spcAft>
                <a:spcPts val="0"/>
              </a:spcAft>
              <a:buNone/>
            </a:pPr>
            <a:r>
              <a:rPr lang="en" u="sng">
                <a:solidFill>
                  <a:schemeClr val="hlink"/>
                </a:solidFill>
                <a:hlinkClick r:id="rId3"/>
              </a:rPr>
              <a:t>https://docs.google.com/document/d/1G-yxmWC6SVf1sZUzW5Dm7sGXa72KjiM_CvA3KF0iCOM/edit?usp=sharing</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